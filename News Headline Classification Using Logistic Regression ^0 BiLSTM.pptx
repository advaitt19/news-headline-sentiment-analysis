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0" r:id="rId1"/>
  </p:sldMasterIdLst>
  <p:sldIdLst>
    <p:sldId id="262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3" r:id="rId16"/>
    <p:sldId id="272" r:id="rId17"/>
    <p:sldId id="274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Models</a:t>
            </a:r>
            <a:r>
              <a:rPr lang="en-US" baseline="0" dirty="0"/>
              <a:t> vs Accuracy</a:t>
            </a:r>
            <a:r>
              <a:rPr lang="en-US" dirty="0"/>
              <a:t>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Sheet1!$I$18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5D4-4CBE-B3F2-DD250BFC3E7E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5D4-4CBE-B3F2-DD250BFC3E7E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solidFill>
                  <a:sysClr val="windowText" lastClr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5D4-4CBE-B3F2-DD250BFC3E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Sheet1!$H$19:$H$22</c:f>
              <c:strCache>
                <c:ptCount val="4"/>
                <c:pt idx="0">
                  <c:v>Logistic Base Model</c:v>
                </c:pt>
                <c:pt idx="1">
                  <c:v>Logistic Grid Search(Tuned)</c:v>
                </c:pt>
                <c:pt idx="2">
                  <c:v>Lstm + Glove Base Model</c:v>
                </c:pt>
                <c:pt idx="3">
                  <c:v>Lstm + Glove Grid Search (Tuned)</c:v>
                </c:pt>
              </c:strCache>
            </c:strRef>
          </c:cat>
          <c:val>
            <c:numRef>
              <c:f>Sheet1!$I$19:$I$22</c:f>
              <c:numCache>
                <c:formatCode>0.00%</c:formatCode>
                <c:ptCount val="4"/>
                <c:pt idx="0">
                  <c:v>0.86250000000000004</c:v>
                </c:pt>
                <c:pt idx="1">
                  <c:v>0.87919999999999998</c:v>
                </c:pt>
                <c:pt idx="2">
                  <c:v>0.79369999999999996</c:v>
                </c:pt>
                <c:pt idx="3">
                  <c:v>0.82709999999999995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D4-4CBE-B3F2-DD250BFC3E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568568960"/>
        <c:axId val="568571840"/>
      </c:barChart>
      <c:catAx>
        <c:axId val="5685689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Types</a:t>
                </a:r>
                <a:r>
                  <a:rPr lang="en-IN" baseline="0" dirty="0"/>
                  <a:t> of Models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8571840"/>
        <c:crosses val="autoZero"/>
        <c:auto val="1"/>
        <c:lblAlgn val="ctr"/>
        <c:lblOffset val="100"/>
        <c:noMultiLvlLbl val="0"/>
      </c:catAx>
      <c:valAx>
        <c:axId val="568571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Accuracy</a:t>
                </a:r>
                <a:r>
                  <a:rPr lang="en-IN" baseline="0" dirty="0"/>
                  <a:t> %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8568960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786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443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98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63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8269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2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5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62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42B0DB6-F5C7-45FB-8CF3-31B45F9C2DAC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78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6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878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15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D2B06-F1FC-D0A9-653F-BCB6771F3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0887-7F7A-C045-68A3-630EF881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" y="2080727"/>
            <a:ext cx="12106275" cy="1200329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News Headline Classification Using Logistic Regression &amp; BiLSTM (Glove Embeddings)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AB26A3-BB38-F516-F340-8F89E1EBB32A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7D5713-BB1A-EB5A-4BEF-1F98D9E2BAC5}"/>
              </a:ext>
            </a:extLst>
          </p:cNvPr>
          <p:cNvSpPr txBox="1"/>
          <p:nvPr/>
        </p:nvSpPr>
        <p:spPr>
          <a:xfrm>
            <a:off x="242327" y="4345060"/>
            <a:ext cx="117073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/>
              <a:t>Prepared By </a:t>
            </a:r>
            <a:r>
              <a:rPr lang="en-IN" dirty="0"/>
              <a:t>–  Advait Tandel</a:t>
            </a:r>
          </a:p>
          <a:p>
            <a:r>
              <a:rPr lang="en-IN" b="1" dirty="0"/>
              <a:t>Dataset </a:t>
            </a:r>
            <a:r>
              <a:rPr lang="en-IN" dirty="0"/>
              <a:t>–  Huff-Post News Dataset</a:t>
            </a:r>
          </a:p>
          <a:p>
            <a:r>
              <a:rPr lang="en-IN" b="1" dirty="0"/>
              <a:t>Tech Stack:</a:t>
            </a:r>
            <a:r>
              <a:rPr lang="en-IN" dirty="0"/>
              <a:t>  Python, Scikit-Learn, TensorFlow/Keras, NLTK, SpaCy, GloVe</a:t>
            </a:r>
          </a:p>
          <a:p>
            <a:pPr algn="l"/>
            <a:r>
              <a:rPr lang="en-US" b="1" dirty="0"/>
              <a:t>Objective -  </a:t>
            </a:r>
            <a:r>
              <a:rPr lang="en-US" dirty="0"/>
              <a:t>Build and compare text classification models for news headlines.</a:t>
            </a: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00BB567-F3D5-0C1A-9B20-2FE4BB4C2969}"/>
              </a:ext>
            </a:extLst>
          </p:cNvPr>
          <p:cNvSpPr txBox="1">
            <a:spLocks/>
          </p:cNvSpPr>
          <p:nvPr/>
        </p:nvSpPr>
        <p:spPr>
          <a:xfrm>
            <a:off x="6219543" y="86798"/>
            <a:ext cx="5972457" cy="5940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(NEWTON AI Project - 01)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20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55384-B0A8-5CB5-9ABA-A61D9C87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0422"/>
            <a:ext cx="3890865" cy="587136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861A1D-475A-5B12-8084-5893C97B8858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29F77-6D68-C40C-9520-527008676556}"/>
              </a:ext>
            </a:extLst>
          </p:cNvPr>
          <p:cNvSpPr txBox="1"/>
          <p:nvPr/>
        </p:nvSpPr>
        <p:spPr>
          <a:xfrm>
            <a:off x="149290" y="2174033"/>
            <a:ext cx="119569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aims to build an </a:t>
            </a:r>
            <a:r>
              <a:rPr lang="en-US" b="1" dirty="0"/>
              <a:t>end-to-end text classification system</a:t>
            </a:r>
            <a:r>
              <a:rPr lang="en-US" dirty="0"/>
              <a:t> that categorizes news headlines into their correct article sections.</a:t>
            </a:r>
          </a:p>
          <a:p>
            <a:endParaRPr lang="en-US" dirty="0"/>
          </a:p>
          <a:p>
            <a:r>
              <a:rPr lang="en-US" dirty="0"/>
              <a:t>We implement </a:t>
            </a:r>
            <a:r>
              <a:rPr lang="en-US" b="1" dirty="0"/>
              <a:t>two full pipelines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TF-IDF + Logistic Regression</a:t>
            </a:r>
            <a:r>
              <a:rPr lang="en-US" dirty="0"/>
              <a:t> (Classic ML Baseline)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Bidirectional LSTM + GloVe</a:t>
            </a:r>
            <a:r>
              <a:rPr lang="en-US" dirty="0"/>
              <a:t> (Deep Learning Model)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 detailed comparison is performed to determine which approach best handles real-world headline classification.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80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68DFC-06C6-7EAF-0203-F05AB4D6F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B517F-BC12-BF5F-0C6C-43284AB65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0422"/>
            <a:ext cx="2491273" cy="587136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Agenda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D8C9E0-79F1-C009-6084-CEAE7E42BDC2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EDE5286-1AC5-DD7F-CC73-7069F32CD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005107"/>
            <a:ext cx="937708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Scope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Description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LR: TF-IDF Feature Engineering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Model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LSTM: Text Cleaning + Features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 Architecture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Summary (Base vs Tuned)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 Insights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Comparison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3957730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A1FC-9097-2623-A16E-B7162694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2E1F-6CF4-F2AD-0422-5B217E4B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0422"/>
            <a:ext cx="4957482" cy="587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CB3AF-A164-2385-C1FF-3EEB3653D1DD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CF65246-4D5D-BB8C-7050-FAD2C12B9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63" y="2024259"/>
            <a:ext cx="1121484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News websites generate massive amounts of headlines every day.</a:t>
            </a:r>
            <a:br>
              <a:rPr lang="en-US" dirty="0"/>
            </a:br>
            <a:r>
              <a:rPr lang="en-US" dirty="0"/>
              <a:t>Manual classification into categories is:</a:t>
            </a:r>
          </a:p>
          <a:p>
            <a:r>
              <a:rPr lang="en-US" dirty="0"/>
              <a:t>• Slow</a:t>
            </a:r>
            <a:br>
              <a:rPr lang="en-US" dirty="0"/>
            </a:br>
            <a:r>
              <a:rPr lang="en-US" dirty="0"/>
              <a:t>• Error-prone</a:t>
            </a:r>
            <a:br>
              <a:rPr lang="en-US" dirty="0"/>
            </a:br>
            <a:r>
              <a:rPr lang="en-US" dirty="0"/>
              <a:t>• Not scalable</a:t>
            </a:r>
          </a:p>
          <a:p>
            <a:r>
              <a:rPr lang="en-US" b="1" dirty="0"/>
              <a:t>Objective:</a:t>
            </a:r>
            <a:r>
              <a:rPr lang="en-US" dirty="0"/>
              <a:t> Build automated text classification models that classify headlines into categories like:</a:t>
            </a:r>
            <a:br>
              <a:rPr lang="en-US" dirty="0"/>
            </a:br>
            <a:r>
              <a:rPr lang="en-US" dirty="0"/>
              <a:t>→ Politics</a:t>
            </a:r>
            <a:br>
              <a:rPr lang="en-US" dirty="0"/>
            </a:br>
            <a:r>
              <a:rPr lang="en-US" dirty="0"/>
              <a:t>→ Business</a:t>
            </a:r>
            <a:br>
              <a:rPr lang="en-US" dirty="0"/>
            </a:br>
            <a:r>
              <a:rPr lang="en-US" dirty="0"/>
              <a:t>→ Entertainment</a:t>
            </a:r>
            <a:br>
              <a:rPr lang="en-US" dirty="0"/>
            </a:br>
            <a:r>
              <a:rPr lang="en-US" dirty="0"/>
              <a:t>→ Sports</a:t>
            </a:r>
            <a:br>
              <a:rPr lang="en-US" dirty="0"/>
            </a:br>
            <a:r>
              <a:rPr lang="en-US" dirty="0"/>
              <a:t>→ Technology</a:t>
            </a:r>
            <a:br>
              <a:rPr lang="en-US" dirty="0"/>
            </a:br>
            <a:r>
              <a:rPr lang="en-US" dirty="0"/>
              <a:t>→ Others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475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47528-369C-7742-2067-6857C921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091C-C529-B69B-CE0B-6F3F76D8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0422"/>
            <a:ext cx="4957482" cy="587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Project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9F05F4-C8AC-D630-A022-23250B33713D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0A5028A-D676-1101-0004-896E20EBA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01258"/>
            <a:ext cx="1121484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This is a complete NLP lifecycle project:</a:t>
            </a:r>
          </a:p>
          <a:p>
            <a:r>
              <a:rPr lang="en-IN" dirty="0"/>
              <a:t>✔ Load &amp; Explore HuffPost dataset</a:t>
            </a:r>
            <a:br>
              <a:rPr lang="en-IN" dirty="0"/>
            </a:br>
            <a:r>
              <a:rPr lang="en-IN" dirty="0"/>
              <a:t>✔ Data cleaning &amp; missing value handling</a:t>
            </a:r>
            <a:br>
              <a:rPr lang="en-IN" dirty="0"/>
            </a:br>
            <a:r>
              <a:rPr lang="en-IN" dirty="0"/>
              <a:t>✔ Combine headline + short description + full description</a:t>
            </a:r>
            <a:br>
              <a:rPr lang="en-IN" dirty="0"/>
            </a:br>
            <a:r>
              <a:rPr lang="en-IN" dirty="0"/>
              <a:t>✔ Build baseline TF-IDF + Logistic Regression model</a:t>
            </a:r>
            <a:br>
              <a:rPr lang="en-IN" dirty="0"/>
            </a:br>
            <a:r>
              <a:rPr lang="en-IN" dirty="0"/>
              <a:t>✔ Hyperparameter tuning using GridSearchCV</a:t>
            </a:r>
            <a:br>
              <a:rPr lang="en-IN" dirty="0"/>
            </a:br>
            <a:r>
              <a:rPr lang="en-IN" dirty="0"/>
              <a:t>✔ Build Bidirectional LSTM with Glove embeddings</a:t>
            </a:r>
            <a:br>
              <a:rPr lang="en-IN" dirty="0"/>
            </a:br>
            <a:r>
              <a:rPr lang="en-IN" dirty="0"/>
              <a:t>✔ Implement Random Search tuning</a:t>
            </a:r>
            <a:br>
              <a:rPr lang="en-IN" dirty="0"/>
            </a:br>
            <a:r>
              <a:rPr lang="en-IN" dirty="0"/>
              <a:t>✔ Evaluate both models</a:t>
            </a:r>
            <a:br>
              <a:rPr lang="en-IN" dirty="0"/>
            </a:br>
            <a:r>
              <a:rPr lang="en-IN" dirty="0"/>
              <a:t>✔ Confusion matrix &amp; visualizations</a:t>
            </a:r>
            <a:br>
              <a:rPr lang="en-IN" dirty="0"/>
            </a:br>
            <a:r>
              <a:rPr lang="en-IN" dirty="0"/>
              <a:t>✔ Save models for deployment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39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7EEF5-9656-683A-F814-2494CF87A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43B2-F980-8FB2-7736-C26BF401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0422"/>
            <a:ext cx="4957482" cy="587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Dataset Description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7256B4-7045-8A26-C837-031BC0990AC0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85B0981-F964-5327-0D18-9417591A7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75" y="1912776"/>
            <a:ext cx="11214849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File Used:</a:t>
            </a:r>
            <a:r>
              <a:rPr lang="en-US" sz="1600" dirty="0"/>
              <a:t> huffpost_news_data.csv</a:t>
            </a:r>
          </a:p>
          <a:p>
            <a:r>
              <a:rPr lang="en-US" sz="1600" dirty="0"/>
              <a:t>Columns selected: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Headline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short_description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article_section</a:t>
            </a:r>
          </a:p>
          <a:p>
            <a:r>
              <a:rPr lang="en-US" sz="1600" dirty="0"/>
              <a:t>A new combined column is created:</a:t>
            </a:r>
            <a:br>
              <a:rPr lang="en-US" sz="1600" dirty="0"/>
            </a:br>
            <a:r>
              <a:rPr lang="en-US" sz="1600" b="1" dirty="0"/>
              <a:t>text = headline + short description + description</a:t>
            </a:r>
            <a:endParaRPr lang="en-US" sz="1600" dirty="0"/>
          </a:p>
          <a:p>
            <a:r>
              <a:rPr lang="en-US" sz="1600" dirty="0"/>
              <a:t>We use </a:t>
            </a:r>
            <a:r>
              <a:rPr lang="en-US" sz="1600" b="1" dirty="0"/>
              <a:t>Top N categories</a:t>
            </a:r>
            <a:r>
              <a:rPr lang="en-US" sz="1600" dirty="0"/>
              <a:t> (chosen by user input).</a:t>
            </a:r>
          </a:p>
          <a:p>
            <a:r>
              <a:rPr lang="en-US" sz="1600" dirty="0"/>
              <a:t>The Shape of Data set used for classifying was (5443, 5).</a:t>
            </a:r>
          </a:p>
          <a:p>
            <a:r>
              <a:rPr lang="en-US" sz="1600" dirty="0"/>
              <a:t> Training Set Size: 1918</a:t>
            </a:r>
          </a:p>
          <a:p>
            <a:r>
              <a:rPr lang="en-US" sz="1600" dirty="0"/>
              <a:t> Test Set Size: 480</a:t>
            </a:r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F79B5D-C6AB-2FA1-A3F3-B84FD38C0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637" b="31625"/>
          <a:stretch>
            <a:fillRect/>
          </a:stretch>
        </p:blipFill>
        <p:spPr>
          <a:xfrm>
            <a:off x="107575" y="4921597"/>
            <a:ext cx="8005484" cy="9861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F1C71A-03BD-4262-59CB-4876D7D9A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753" y="2748083"/>
            <a:ext cx="6697010" cy="781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429D7A-9C51-9A25-76F5-F6293514C154}"/>
              </a:ext>
            </a:extLst>
          </p:cNvPr>
          <p:cNvSpPr txBox="1"/>
          <p:nvPr/>
        </p:nvSpPr>
        <p:spPr>
          <a:xfrm>
            <a:off x="5294753" y="2440306"/>
            <a:ext cx="4012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We are working on 5 categories here :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928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1FB15-CE83-6666-28F9-16EFAEB5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E4612-703E-DC21-8ACD-FE0FEC47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0422"/>
            <a:ext cx="4957482" cy="587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Data Preprocessing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F89577-B1B0-D284-0C08-C32B36B9D229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2CC4728-884D-901F-7FCE-2C19FF069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0" y="1912776"/>
            <a:ext cx="1121484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Both models follow a consistent cleaning pipeline:</a:t>
            </a:r>
          </a:p>
          <a:p>
            <a:r>
              <a:rPr lang="en-IN" b="1" dirty="0"/>
              <a:t>Steps performed: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Filling missing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Lowercasing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Removing special characters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Tokenization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Stopword removal (NLTK)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Lemmatization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Added Sentiment flag (positive/neutral/negative)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Extracted keyword phrases using SpaCy noun chunks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Final combined processed text:</a:t>
            </a:r>
            <a:br>
              <a:rPr lang="en-IN" dirty="0"/>
            </a:br>
            <a:r>
              <a:rPr lang="en-IN" dirty="0"/>
              <a:t>( final_text = clean_text + sentiment + keywords)</a:t>
            </a:r>
          </a:p>
          <a:p>
            <a:r>
              <a:rPr lang="en-IN" dirty="0"/>
              <a:t>This creates richer semantic inputs for LSTM.</a:t>
            </a:r>
          </a:p>
        </p:txBody>
      </p:sp>
    </p:spTree>
    <p:extLst>
      <p:ext uri="{BB962C8B-B14F-4D97-AF65-F5344CB8AC3E}">
        <p14:creationId xmlns:p14="http://schemas.microsoft.com/office/powerpoint/2010/main" val="77278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94C69-0D69-6A53-3913-75071C433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E335C-7D85-3407-05E6-68687E4D9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0422"/>
            <a:ext cx="6768353" cy="587136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LR: Feature Engineering (TF-IDF)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9C8FA0-2520-5486-7A33-2DEE78CD4CEA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D51E370-F7E8-F4DA-33D1-FB014842A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3363"/>
            <a:ext cx="1121484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TF-IDF vectorization is applied to cleaned text.</a:t>
            </a:r>
            <a:endParaRPr lang="en-IN" b="1" dirty="0"/>
          </a:p>
          <a:p>
            <a:endParaRPr lang="en-IN" b="1" dirty="0"/>
          </a:p>
          <a:p>
            <a:r>
              <a:rPr lang="en-US" dirty="0"/>
              <a:t>This method: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Converts text into numerical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Captures word importance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well with short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Used as input for Logistic Regression.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D2B7AB-1BBC-16FF-6614-592B73038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323" y="2143363"/>
            <a:ext cx="4906060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00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EC0B-9D16-C84E-FB32-7CA651486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644A-303D-2B11-E33F-534AF7F1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0422"/>
            <a:ext cx="9556377" cy="587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Model – 01 Logistic Regression + tfidf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AE1426-AF1E-DF09-A4BF-CC56F1F806CF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B55E08E-A128-3E30-2629-9332387FA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12776"/>
            <a:ext cx="1121484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 Base Logistic Regression Accuracy: 0.8625 ~ 86.3%</a:t>
            </a:r>
          </a:p>
          <a:p>
            <a:r>
              <a:rPr lang="en-IN" dirty="0"/>
              <a:t>Trained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Cleaned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TF-IDF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Top categories only</a:t>
            </a:r>
          </a:p>
          <a:p>
            <a:r>
              <a:rPr lang="en-IN" b="1" dirty="0"/>
              <a:t>Hyperparameter Tuning</a:t>
            </a:r>
          </a:p>
          <a:p>
            <a:r>
              <a:rPr lang="en-IN" dirty="0"/>
              <a:t>Using GridSearchCV: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C: [0.1, 1, 3]</a:t>
            </a:r>
            <a:r>
              <a:rPr lang="en-US" dirty="0"/>
              <a:t>                           Best Logistic Regression Accuracy + GRID SEARCH : 0.8792 ~ 88%.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Solver: [lbfgs, saga]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max_iter: [500, 1000]</a:t>
            </a:r>
          </a:p>
          <a:p>
            <a:endParaRPr lang="en-IN" dirty="0"/>
          </a:p>
          <a:p>
            <a:r>
              <a:rPr lang="en-IN" dirty="0"/>
              <a:t>Best model saved as: best_lr, pkltfidf_vectorizer.pkl, label_encoder.pkl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B2F62A-93C8-A2D6-13B9-746D066A1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978" y="2642458"/>
            <a:ext cx="5153744" cy="876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CA164-E626-B98C-3F4D-E9D37B5059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88" t="-6054"/>
          <a:stretch>
            <a:fillRect/>
          </a:stretch>
        </p:blipFill>
        <p:spPr>
          <a:xfrm>
            <a:off x="4739737" y="4281139"/>
            <a:ext cx="3499408" cy="2323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195019-E62D-A009-BF06-9531384E3494}"/>
              </a:ext>
            </a:extLst>
          </p:cNvPr>
          <p:cNvSpPr txBox="1"/>
          <p:nvPr/>
        </p:nvSpPr>
        <p:spPr>
          <a:xfrm>
            <a:off x="3067147" y="4193155"/>
            <a:ext cx="171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Paramters :</a:t>
            </a:r>
          </a:p>
        </p:txBody>
      </p:sp>
    </p:spTree>
    <p:extLst>
      <p:ext uri="{BB962C8B-B14F-4D97-AF65-F5344CB8AC3E}">
        <p14:creationId xmlns:p14="http://schemas.microsoft.com/office/powerpoint/2010/main" val="230474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07780-F08E-D239-C56B-2710679D4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E45B1-C157-531B-D922-96D5FB5A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0422"/>
            <a:ext cx="10892119" cy="587136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Model – 02 LSTM :  Text Cleaning + Embedding Setup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907F6-65E1-3FFA-080B-75459C9713C7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3421D5-A029-7E88-584A-7F06B76BA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12776"/>
            <a:ext cx="1121484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Additional LSTM-specific features added: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Sentiment polarity using Text-Blob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Keyword extraction via SpaCy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Lemmatization + Stopword removal</a:t>
            </a:r>
          </a:p>
          <a:p>
            <a:endParaRPr lang="en-IN" dirty="0"/>
          </a:p>
          <a:p>
            <a:r>
              <a:rPr lang="en-IN" dirty="0"/>
              <a:t>Tokenization &amp; Padding:</a:t>
            </a:r>
          </a:p>
          <a:p>
            <a:endParaRPr lang="en-IN" dirty="0"/>
          </a:p>
          <a:p>
            <a:r>
              <a:rPr lang="en-IN" dirty="0"/>
              <a:t>Word Embeddings:</a:t>
            </a:r>
          </a:p>
          <a:p>
            <a:r>
              <a:rPr lang="en-US" dirty="0"/>
              <a:t>Downloaded </a:t>
            </a:r>
            <a:r>
              <a:rPr lang="en-US" b="1" dirty="0"/>
              <a:t>Glove 300D</a:t>
            </a:r>
            <a:r>
              <a:rPr lang="en-US" dirty="0"/>
              <a:t> and built an embedding matrix: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998D6A-9423-D60B-D704-3FC4F081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87" y="2331020"/>
            <a:ext cx="4488024" cy="1719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1B2A1C-92C9-F112-359B-ABFF49E27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38" y="4498099"/>
            <a:ext cx="4571492" cy="13521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41ECDD-4C85-3D28-51D7-1B4F46F95197}"/>
              </a:ext>
            </a:extLst>
          </p:cNvPr>
          <p:cNvSpPr txBox="1"/>
          <p:nvPr/>
        </p:nvSpPr>
        <p:spPr>
          <a:xfrm>
            <a:off x="4726464" y="4498099"/>
            <a:ext cx="761793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Baseline LSTM Accuracy:  0.7937 ~79.4%.</a:t>
            </a:r>
          </a:p>
          <a:p>
            <a:r>
              <a:rPr lang="pt-BR" sz="1400" dirty="0"/>
              <a:t>param_grid for tuning </a:t>
            </a:r>
            <a:r>
              <a:rPr lang="pt-BR" sz="1200" dirty="0"/>
              <a:t>= </a:t>
            </a:r>
            <a:r>
              <a:rPr lang="pt-BR" sz="1100" dirty="0"/>
              <a:t>{lstm_units: [96, 128, 160, 192], dropout: [0.2, 0.3, 0.4],lr: [1e-4, 3e-4, 5e4],batch_size: [64, 96,128]}</a:t>
            </a:r>
          </a:p>
          <a:p>
            <a:endParaRPr lang="pt-BR" sz="1400" dirty="0"/>
          </a:p>
          <a:p>
            <a:r>
              <a:rPr lang="pt-BR" sz="1400" dirty="0"/>
              <a:t>Tuned LSTM Accuracy :0.8271 ~82.7%.</a:t>
            </a:r>
          </a:p>
          <a:p>
            <a:endParaRPr lang="pt-BR" sz="1400" dirty="0"/>
          </a:p>
          <a:p>
            <a:r>
              <a:rPr lang="en-IN" sz="1400" dirty="0"/>
              <a:t>Best Paramters :</a:t>
            </a:r>
          </a:p>
          <a:p>
            <a:r>
              <a:rPr lang="pt-BR" sz="1400" dirty="0"/>
              <a:t> </a:t>
            </a:r>
          </a:p>
          <a:p>
            <a:endParaRPr lang="en-I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145BBB-57B1-60F3-0DEE-5E5CC7168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5598499"/>
            <a:ext cx="5163271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75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0C1E-FEC4-7CE6-817E-55FE0F2FC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EB2A-F9E5-CB3C-C2E5-C66E19375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0422"/>
            <a:ext cx="10892119" cy="587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Model – 02 LSTM :  </a:t>
            </a:r>
            <a:r>
              <a:rPr lang="en-IN" dirty="0"/>
              <a:t>Architecture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0FFC-7F8E-E068-F677-D478683BE619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BA435E-901B-48D2-2826-D37276902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9307"/>
            <a:ext cx="1121484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The deep learning model consists of:</a:t>
            </a:r>
          </a:p>
          <a:p>
            <a:r>
              <a:rPr lang="en-IN" b="1" dirty="0"/>
              <a:t>1) Embedding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Preloaded Glove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Trainable for fine-tuning</a:t>
            </a:r>
          </a:p>
          <a:p>
            <a:r>
              <a:rPr lang="en-IN" b="1" dirty="0"/>
              <a:t>2) Bidirectional LSTM (128 units)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Learns context both forward + backward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Handles long-term dependencies</a:t>
            </a:r>
          </a:p>
          <a:p>
            <a:r>
              <a:rPr lang="en-IN" b="1" dirty="0"/>
              <a:t>3) Dense Layers + Dropout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Improves generalization</a:t>
            </a:r>
          </a:p>
          <a:p>
            <a:r>
              <a:rPr lang="en-IN" b="1" dirty="0"/>
              <a:t>4) Output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Softmax activation for multi-class classification</a:t>
            </a:r>
          </a:p>
          <a:p>
            <a:r>
              <a:rPr lang="en-IN" b="1" dirty="0"/>
              <a:t>Optimizer &amp;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Adam Optimizer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Early Stopping callback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8 epochs for base model</a:t>
            </a:r>
          </a:p>
        </p:txBody>
      </p:sp>
    </p:spTree>
    <p:extLst>
      <p:ext uri="{BB962C8B-B14F-4D97-AF65-F5344CB8AC3E}">
        <p14:creationId xmlns:p14="http://schemas.microsoft.com/office/powerpoint/2010/main" val="4024669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38432-AA9A-75E3-51C3-74338665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5B99D-0267-896E-A9C1-C57426A57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0422"/>
            <a:ext cx="10892119" cy="587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Evaluation Metrics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F5CF8D-D35B-BAC8-01FA-2BD5E239BFB3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343BD16-F084-22FA-D5A9-5FFC513D9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51673"/>
            <a:ext cx="58782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Both models evaluated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F1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Confusion Matrix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33A5B2-8D0D-3A01-719D-B40702CC5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7" y="3553740"/>
            <a:ext cx="4460033" cy="23720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028519-D75A-0DD1-E630-AEE557068B3E}"/>
              </a:ext>
            </a:extLst>
          </p:cNvPr>
          <p:cNvSpPr txBox="1"/>
          <p:nvPr/>
        </p:nvSpPr>
        <p:spPr>
          <a:xfrm>
            <a:off x="139958" y="3145843"/>
            <a:ext cx="446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u="sng" dirty="0"/>
              <a:t>For Logistic Regression tuned the Metrics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5C9D4-282F-1495-E5F7-3015FEA1D38B}"/>
              </a:ext>
            </a:extLst>
          </p:cNvPr>
          <p:cNvSpPr txBox="1"/>
          <p:nvPr/>
        </p:nvSpPr>
        <p:spPr>
          <a:xfrm>
            <a:off x="6217298" y="3148951"/>
            <a:ext cx="4546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u="sng" dirty="0"/>
              <a:t>For LSTM tuned the Metrics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C4094C-C117-14B6-EFB9-35F4B06D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525161"/>
            <a:ext cx="4667901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09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8A8D0-4769-93C2-63C2-2BC7B032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4AEF-854E-F347-DDE1-A9B8A730D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0422"/>
            <a:ext cx="10892119" cy="587136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Results Summary (Your Actual Model Performance)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58F1AC-3D55-948F-0D7A-5E1729BE9E2F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28ED06-59EF-2BBA-0636-E0386ED25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801112"/>
            <a:ext cx="11214849" cy="4198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Logistic Regression</a:t>
            </a:r>
          </a:p>
          <a:p>
            <a:pPr>
              <a:lnSpc>
                <a:spcPct val="150000"/>
              </a:lnSpc>
            </a:pPr>
            <a:r>
              <a:rPr lang="en-IN" dirty="0"/>
              <a:t>Baseline Accuracy:  86.25%</a:t>
            </a:r>
          </a:p>
          <a:p>
            <a:pPr>
              <a:lnSpc>
                <a:spcPct val="150000"/>
              </a:lnSpc>
            </a:pPr>
            <a:r>
              <a:rPr lang="en-IN" dirty="0"/>
              <a:t>After GridSearch:  87.92%</a:t>
            </a:r>
          </a:p>
          <a:p>
            <a:pPr>
              <a:lnSpc>
                <a:spcPct val="150000"/>
              </a:lnSpc>
            </a:pPr>
            <a:r>
              <a:rPr lang="en-IN" dirty="0"/>
              <a:t>Works very well for high-frequency keywords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BiLSTM + GloVe</a:t>
            </a:r>
          </a:p>
          <a:p>
            <a:pPr>
              <a:lnSpc>
                <a:spcPct val="150000"/>
              </a:lnSpc>
            </a:pPr>
            <a:r>
              <a:rPr lang="en-IN" dirty="0"/>
              <a:t>Base Model Accuracy: 79.37%</a:t>
            </a:r>
          </a:p>
          <a:p>
            <a:pPr>
              <a:lnSpc>
                <a:spcPct val="150000"/>
              </a:lnSpc>
            </a:pPr>
            <a:r>
              <a:rPr lang="en-IN" dirty="0"/>
              <a:t>Tuned Model Accuracy: 82.71%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US" b="1" dirty="0"/>
              <a:t>Expected outcome from your script:</a:t>
            </a:r>
          </a:p>
          <a:p>
            <a:pPr>
              <a:lnSpc>
                <a:spcPct val="150000"/>
              </a:lnSpc>
            </a:pPr>
            <a:r>
              <a:rPr lang="en-US" dirty="0"/>
              <a:t>Logistic Regression(Tuned)</a:t>
            </a:r>
            <a:r>
              <a:rPr lang="en-IN" dirty="0"/>
              <a:t>&gt; Logistic Regression(Base) &gt;</a:t>
            </a:r>
            <a:r>
              <a:rPr lang="en-US" dirty="0"/>
              <a:t> LSTM (tuned)  &gt; LSTM (base) </a:t>
            </a:r>
          </a:p>
        </p:txBody>
      </p:sp>
    </p:spTree>
    <p:extLst>
      <p:ext uri="{BB962C8B-B14F-4D97-AF65-F5344CB8AC3E}">
        <p14:creationId xmlns:p14="http://schemas.microsoft.com/office/powerpoint/2010/main" val="530143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13FA0-FDC6-DA7C-D44D-E3BC37F0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4D872-9187-6968-BC3A-92BC0CA5A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0422"/>
            <a:ext cx="10892119" cy="587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Confusion Matrix Insights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9011BB-54C7-7C14-FEB6-62A3DD969C21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64041B-6281-1D6E-4464-131B1B836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56792"/>
            <a:ext cx="1121484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b="1" dirty="0"/>
              <a:t>Logistic Regression Confusion                                                 LSTM Confusion: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3E9354-542E-A607-19E3-773736A4F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065" y="2282108"/>
            <a:ext cx="4780390" cy="37289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D34946-695E-41BD-8A66-AEC371974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84" y="2281486"/>
            <a:ext cx="5221440" cy="37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57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A9E4C-02BA-C4E0-8A48-2F5B7D00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B704-5D51-15EE-D403-075CFBB64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0422"/>
            <a:ext cx="10892119" cy="587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Visualizations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8C746C-B7A8-6A85-90A0-9F4ADBFFAD65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A20DACA-72A7-D132-5EE5-2DD103BC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78304"/>
            <a:ext cx="1121484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400" b="1" dirty="0"/>
              <a:t>From Logistic Regression Code: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Category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Text length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Word clouds per category</a:t>
            </a:r>
          </a:p>
          <a:p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9AD8A5-9C59-FCCD-7ACF-D10150036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851" y="4124426"/>
            <a:ext cx="2860213" cy="19777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19849B-A1AD-0EB5-99C8-EBAA44732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7981" y="4124426"/>
            <a:ext cx="2851200" cy="197779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5C457F-34D3-D8EC-9224-3FB9F5682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064" y="4124426"/>
            <a:ext cx="3207600" cy="19777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083009-37E7-C35A-9657-878C4BDE30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925" y="3018601"/>
            <a:ext cx="3091597" cy="25021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ECC737A-C8FC-43C0-9540-7744DAD97B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7981" y="1978655"/>
            <a:ext cx="2851200" cy="2138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9982939-A1D3-539C-1BB7-B26F783346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7468" y="1964242"/>
            <a:ext cx="3207600" cy="2138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1E6D7E4-491F-194D-9EED-84D3679CA5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6268" y="1949401"/>
            <a:ext cx="2851200" cy="21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85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7CB3A-9F4C-8DF9-D473-F6365572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8B09-0075-DF95-0099-8A995B72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0422"/>
            <a:ext cx="10892119" cy="587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Visualizations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371AD7-0592-AADB-6DED-A0B2D7F28D6F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B3F993-B6F4-F02B-C642-4EF9E5121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3977" y="2020498"/>
            <a:ext cx="1121484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400" b="1" dirty="0"/>
              <a:t>From LSTM Code: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Category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Text length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Word clouds per category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CF9E8-869D-D188-FD37-422A8E665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481" y="1986026"/>
            <a:ext cx="2817845" cy="21367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75802B-1EF3-10E1-8819-9B49F1391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005" y="1983031"/>
            <a:ext cx="2990425" cy="21397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5C27CD-5604-987F-4000-4C26B8660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088" y="1984335"/>
            <a:ext cx="2851200" cy="2138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577B51-DF86-3547-E6A7-C81D40296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68" y="4195984"/>
            <a:ext cx="2817845" cy="19155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8DB4D1-D828-4231-77C2-F12BE8C29F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0481" y="4195985"/>
            <a:ext cx="2817845" cy="19155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52C137-BC00-69F7-6811-C9EF63DAB3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7005" y="4192990"/>
            <a:ext cx="2990424" cy="19155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2BAA33-8D00-EC46-CC77-770F45F86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1088" y="4192990"/>
            <a:ext cx="2851200" cy="191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70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FC508-EB5A-84ED-A449-DDA6B5C62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4F5A-859A-2BF4-F55A-86B678DFE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0422"/>
            <a:ext cx="10892119" cy="58713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Model Comparison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7EFB95-20FF-E014-0614-7F51F53B2359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46C36EA-98CE-4D7F-0536-A6CEA5CE3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486048"/>
              </p:ext>
            </p:extLst>
          </p:nvPr>
        </p:nvGraphicFramePr>
        <p:xfrm>
          <a:off x="0" y="1986026"/>
          <a:ext cx="9224682" cy="1115762"/>
        </p:xfrm>
        <a:graphic>
          <a:graphicData uri="http://schemas.openxmlformats.org/drawingml/2006/table">
            <a:tbl>
              <a:tblPr/>
              <a:tblGrid>
                <a:gridCol w="3074894">
                  <a:extLst>
                    <a:ext uri="{9D8B030D-6E8A-4147-A177-3AD203B41FA5}">
                      <a16:colId xmlns:a16="http://schemas.microsoft.com/office/drawing/2014/main" val="2786656822"/>
                    </a:ext>
                  </a:extLst>
                </a:gridCol>
                <a:gridCol w="3074894">
                  <a:extLst>
                    <a:ext uri="{9D8B030D-6E8A-4147-A177-3AD203B41FA5}">
                      <a16:colId xmlns:a16="http://schemas.microsoft.com/office/drawing/2014/main" val="1324521876"/>
                    </a:ext>
                  </a:extLst>
                </a:gridCol>
                <a:gridCol w="3074894">
                  <a:extLst>
                    <a:ext uri="{9D8B030D-6E8A-4147-A177-3AD203B41FA5}">
                      <a16:colId xmlns:a16="http://schemas.microsoft.com/office/drawing/2014/main" val="2268366601"/>
                    </a:ext>
                  </a:extLst>
                </a:gridCol>
              </a:tblGrid>
              <a:tr h="11157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848882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47EC65D-8F05-C78C-A4CC-D61BAAF018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0837126"/>
              </p:ext>
            </p:extLst>
          </p:nvPr>
        </p:nvGraphicFramePr>
        <p:xfrm>
          <a:off x="5859624" y="2173886"/>
          <a:ext cx="5755833" cy="2847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F282B1-6853-ADF7-D730-B5B011491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065831"/>
              </p:ext>
            </p:extLst>
          </p:nvPr>
        </p:nvGraphicFramePr>
        <p:xfrm>
          <a:off x="211417" y="2173886"/>
          <a:ext cx="4034011" cy="2659370"/>
        </p:xfrm>
        <a:graphic>
          <a:graphicData uri="http://schemas.openxmlformats.org/drawingml/2006/table">
            <a:tbl>
              <a:tblPr/>
              <a:tblGrid>
                <a:gridCol w="2990732">
                  <a:extLst>
                    <a:ext uri="{9D8B030D-6E8A-4147-A177-3AD203B41FA5}">
                      <a16:colId xmlns:a16="http://schemas.microsoft.com/office/drawing/2014/main" val="1316315298"/>
                    </a:ext>
                  </a:extLst>
                </a:gridCol>
                <a:gridCol w="1043279">
                  <a:extLst>
                    <a:ext uri="{9D8B030D-6E8A-4147-A177-3AD203B41FA5}">
                      <a16:colId xmlns:a16="http://schemas.microsoft.com/office/drawing/2014/main" val="1201891231"/>
                    </a:ext>
                  </a:extLst>
                </a:gridCol>
              </a:tblGrid>
              <a:tr h="5318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Types of Model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Accuracy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603119"/>
                  </a:ext>
                </a:extLst>
              </a:tr>
              <a:tr h="531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Base Model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617819"/>
                  </a:ext>
                </a:extLst>
              </a:tr>
              <a:tr h="531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Grid Search(Tuned)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87.92%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271099"/>
                  </a:ext>
                </a:extLst>
              </a:tr>
              <a:tr h="531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Lstm + Glove Base Model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79.37%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583098"/>
                  </a:ext>
                </a:extLst>
              </a:tr>
              <a:tr h="5318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Lstm + Glove Grid Search (Tuned)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82.71%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2141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717169-4A0A-D753-E6F0-4F328812BEC5}"/>
              </a:ext>
            </a:extLst>
          </p:cNvPr>
          <p:cNvSpPr txBox="1"/>
          <p:nvPr/>
        </p:nvSpPr>
        <p:spPr>
          <a:xfrm>
            <a:off x="211417" y="5134331"/>
            <a:ext cx="11535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Conclusion -The tuned Logistic Regression model outperformed all other models with an accuracy of 87.92%.</a:t>
            </a:r>
            <a:br>
              <a:rPr lang="en-US" dirty="0"/>
            </a:br>
            <a:r>
              <a:rPr lang="en-US" dirty="0"/>
              <a:t>Despite using advanced deep learning (LSTM + GloVe), classical machine learning proved more effective for short-text classification in this project.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1275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64CC-89FA-C7FC-553B-3ACBE32C2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82EE-6A07-0618-5381-9AC47912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40422"/>
            <a:ext cx="10892119" cy="587136"/>
          </a:xfrm>
        </p:spPr>
        <p:txBody>
          <a:bodyPr anchor="ctr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Future Improvements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8DB1C9-9876-8941-1928-B0869473785C}"/>
              </a:ext>
            </a:extLst>
          </p:cNvPr>
          <p:cNvSpPr/>
          <p:nvPr/>
        </p:nvSpPr>
        <p:spPr>
          <a:xfrm>
            <a:off x="0" y="1800808"/>
            <a:ext cx="12191999" cy="111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DEAF2-1D0E-E8B9-8890-C2DEDD1FACEE}"/>
              </a:ext>
            </a:extLst>
          </p:cNvPr>
          <p:cNvSpPr txBox="1"/>
          <p:nvPr/>
        </p:nvSpPr>
        <p:spPr>
          <a:xfrm>
            <a:off x="-1" y="2059656"/>
            <a:ext cx="96729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further enhance the model:</a:t>
            </a:r>
          </a:p>
          <a:p>
            <a:r>
              <a:rPr lang="en-IN" dirty="0"/>
              <a:t>🔹 Use </a:t>
            </a:r>
            <a:r>
              <a:rPr lang="en-IN" b="1" dirty="0"/>
              <a:t>BERT / RoBERTa / Distil BERT</a:t>
            </a:r>
            <a:br>
              <a:rPr lang="en-IN" dirty="0"/>
            </a:br>
            <a:r>
              <a:rPr lang="en-IN" dirty="0"/>
              <a:t>🔹 Add multi-label support</a:t>
            </a:r>
            <a:br>
              <a:rPr lang="en-IN" dirty="0"/>
            </a:br>
            <a:r>
              <a:rPr lang="en-IN" dirty="0"/>
              <a:t>🔹 Improve category balancing</a:t>
            </a:r>
            <a:br>
              <a:rPr lang="en-IN" dirty="0"/>
            </a:br>
            <a:r>
              <a:rPr lang="en-IN" dirty="0"/>
              <a:t>🔹 Build a real-time REST API</a:t>
            </a:r>
            <a:br>
              <a:rPr lang="en-IN" dirty="0"/>
            </a:br>
            <a:r>
              <a:rPr lang="en-IN" dirty="0"/>
              <a:t>🔹 Deploy using Docker + Fast API</a:t>
            </a:r>
            <a:br>
              <a:rPr lang="en-IN" dirty="0"/>
            </a:br>
            <a:r>
              <a:rPr lang="en-IN" dirty="0"/>
              <a:t>🔹 Create model monitoring dashboards</a:t>
            </a:r>
          </a:p>
        </p:txBody>
      </p:sp>
    </p:spTree>
    <p:extLst>
      <p:ext uri="{BB962C8B-B14F-4D97-AF65-F5344CB8AC3E}">
        <p14:creationId xmlns:p14="http://schemas.microsoft.com/office/powerpoint/2010/main" val="22609722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158</TotalTime>
  <Words>1032</Words>
  <Application>Microsoft Office PowerPoint</Application>
  <PresentationFormat>Widescreen</PresentationFormat>
  <Paragraphs>169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Courier New</vt:lpstr>
      <vt:lpstr>Gill Sans MT</vt:lpstr>
      <vt:lpstr>Wingdings</vt:lpstr>
      <vt:lpstr>Gallery</vt:lpstr>
      <vt:lpstr>News Headline Classification Using Logistic Regression &amp; BiLSTM (Glove Embeddings)</vt:lpstr>
      <vt:lpstr>Introduction</vt:lpstr>
      <vt:lpstr>Agenda</vt:lpstr>
      <vt:lpstr>Problem Statement</vt:lpstr>
      <vt:lpstr>Project Scope</vt:lpstr>
      <vt:lpstr>Dataset Description</vt:lpstr>
      <vt:lpstr>Data Preprocessing</vt:lpstr>
      <vt:lpstr>LR: Feature Engineering (TF-IDF)</vt:lpstr>
      <vt:lpstr>Model – 01 Logistic Regression + tfidf</vt:lpstr>
      <vt:lpstr>Model – 02 LSTM :  Text Cleaning + Embedding Setup</vt:lpstr>
      <vt:lpstr>Model – 02 LSTM :  Architecture</vt:lpstr>
      <vt:lpstr>Evaluation Metrics</vt:lpstr>
      <vt:lpstr>Results Summary (Your Actual Model Performance)</vt:lpstr>
      <vt:lpstr>Confusion Matrix Insights</vt:lpstr>
      <vt:lpstr>Visualizations</vt:lpstr>
      <vt:lpstr>Visualizations</vt:lpstr>
      <vt:lpstr>Model Comparison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ADVAIT TANDEL</dc:creator>
  <cp:lastModifiedBy>ADVAIT TANDEL</cp:lastModifiedBy>
  <cp:revision>2</cp:revision>
  <dcterms:created xsi:type="dcterms:W3CDTF">2025-11-16T07:27:59Z</dcterms:created>
  <dcterms:modified xsi:type="dcterms:W3CDTF">2025-11-16T16:54:17Z</dcterms:modified>
</cp:coreProperties>
</file>